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</p:sldIdLst>
  <p:sldSz cy="6858000" cx="12191675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GoogleSlidesCustomDataVersion2">
      <go:slidesCustomData xmlns:go="http://customooxmlschemas.google.com/" r:id="rId12" roundtripDataSignature="AMtx7mgfVJHJNXjlkk1tqQjjKSXQ9H8Yi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2" Type="http://customschemas.google.com/relationships/presentationmetadata" Target="metadata"/><Relationship Id="rId9" Type="http://schemas.openxmlformats.org/officeDocument/2006/relationships/slide" Target="slides/slide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82" name="Google Shape;82;p1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Romain ouvre. Accroche : des centaines d'expeditions chaque annee, toutes ne reussissent pas. Notre defi : predire le succes AVANT le depart.</a:t>
            </a:r>
            <a:endParaRPr/>
          </a:p>
        </p:txBody>
      </p:sp>
      <p:sp>
        <p:nvSpPr>
          <p:cNvPr id="83" name="Google Shape;83;p1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92" name="Google Shape;92;p2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Romain. Poser le probleme metier et l'enjeu pratique. Insister : on s'interdit tout ce qui n'est pas connu avant le depart. Cible equilibree 55/45 -&gt; logistique, accuracy honnete, baseline a battre = 55%.</a:t>
            </a:r>
            <a:endParaRPr/>
          </a:p>
        </p:txBody>
      </p:sp>
      <p:sp>
        <p:nvSpPr>
          <p:cNvPr id="93" name="Google Shape;93;p2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3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03" name="Google Shape;103;p3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Romain. Volume et types de variables. Montrer qu'on a discipline le jeu : reduction, nettoyage minime (jeu de bonne qualite). Pointer la heatmap : ce qui correle avec le succes, et la redondance tothired/totmembers (annonce le ratio). Finir sur le leakage = fil rouge.</a:t>
            </a:r>
            <a:endParaRPr/>
          </a:p>
        </p:txBody>
      </p:sp>
      <p:sp>
        <p:nvSpPr>
          <p:cNvPr id="104" name="Google Shape;104;p3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4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15" name="Google Shape;115;p4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Loriziano. Le storytelling fort : 3 hypotheses, 1 survit. Raconter ratio_hired (gardee, preuve chiffree). Puis la fausse interaction o2xsaison : on a cherche et trouve la variable confondante (sommet tente). rope_bool : zero signal. Message : on n'a rien garde au feeling.</a:t>
            </a:r>
            <a:endParaRPr/>
          </a:p>
        </p:txBody>
      </p:sp>
      <p:sp>
        <p:nvSpPr>
          <p:cNvPr id="116" name="Google Shape;116;p4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5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31" name="Google Shape;131;p5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Loriziano. Pourquoi logistique. Resultat clef : 69,3% en CV vs 55% baseline. Montrer les coefficients : o2 et comrte dominent, sommets vs AmaDablam. Twist honnete : ratio_hired s'effondre une fois o2/comrte presents (signal absorbe). camps exclu = leakage. Optimisation ne cree pas de signal inexistant.</a:t>
            </a:r>
            <a:endParaRPr/>
          </a:p>
        </p:txBody>
      </p:sp>
      <p:sp>
        <p:nvSpPr>
          <p:cNvPr id="132" name="Google Shape;132;p5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6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44" name="Google Shape;144;p6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Romain ferme. Resumer la hierarchie o2 &gt; comrte &gt; sommet. Insister sur les deux lecons metier (leakage, correlation vs causalite) : c'est ce qui distingue une vraie analyse. Pistes d'amelioration honnetes. Remercier, ouvrir les questions.</a:t>
            </a:r>
            <a:endParaRPr/>
          </a:p>
        </p:txBody>
      </p:sp>
      <p:sp>
        <p:nvSpPr>
          <p:cNvPr id="145" name="Google Shape;145;p6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9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9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10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10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11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11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12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12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12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13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13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13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13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1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1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1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1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1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1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5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15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15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1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1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1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6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6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6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7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8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8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7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5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1"/>
          <p:cNvSpPr/>
          <p:nvPr/>
        </p:nvSpPr>
        <p:spPr>
          <a:xfrm>
            <a:off x="0" y="4160520"/>
            <a:ext cx="12191695" cy="82296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1"/>
          <p:cNvSpPr txBox="1"/>
          <p:nvPr/>
        </p:nvSpPr>
        <p:spPr>
          <a:xfrm>
            <a:off x="914400" y="1554480"/>
            <a:ext cx="10332720" cy="2468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Peut-on prédire le succès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d'une expédition himalayenne ?</a:t>
            </a:r>
            <a:endParaRPr/>
          </a:p>
          <a:p>
            <a:pPr indent="0" lvl="0" marL="0" marR="0" rtl="0" algn="l">
              <a:spcBef>
                <a:spcPts val="1800"/>
              </a:spcBef>
              <a:spcAft>
                <a:spcPts val="0"/>
              </a:spcAft>
              <a:buNone/>
            </a:pPr>
            <a:r>
              <a:rPr i="1" lang="en-US" sz="1800">
                <a:solidFill>
                  <a:srgbClr val="CFDCEA"/>
                </a:solidFill>
                <a:latin typeface="Calibri"/>
                <a:ea typeface="Calibri"/>
                <a:cs typeface="Calibri"/>
                <a:sym typeface="Calibri"/>
              </a:rPr>
              <a:t>… à partir des seules informations connues avant le départ</a:t>
            </a:r>
            <a:endParaRPr/>
          </a:p>
        </p:txBody>
      </p:sp>
      <p:sp>
        <p:nvSpPr>
          <p:cNvPr id="89" name="Google Shape;89;p1"/>
          <p:cNvSpPr txBox="1"/>
          <p:nvPr/>
        </p:nvSpPr>
        <p:spPr>
          <a:xfrm>
            <a:off x="914400" y="4434840"/>
            <a:ext cx="10332720" cy="1463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Romain Ben  ·  Loriziano Soave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CFDCEA"/>
                </a:solidFill>
                <a:latin typeface="Calibri"/>
                <a:ea typeface="Calibri"/>
                <a:cs typeface="Calibri"/>
                <a:sym typeface="Calibri"/>
              </a:rPr>
              <a:t>Introduction au Traitement des Données — Polytech Nice Sophia, MAM3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1300">
                <a:solidFill>
                  <a:srgbClr val="AFC4D8"/>
                </a:solidFill>
                <a:latin typeface="Calibri"/>
                <a:ea typeface="Calibri"/>
                <a:cs typeface="Calibri"/>
                <a:sym typeface="Calibri"/>
              </a:rPr>
              <a:t>Projet Kaggle — Himalayan Expeditions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2"/>
          <p:cNvSpPr/>
          <p:nvPr/>
        </p:nvSpPr>
        <p:spPr>
          <a:xfrm>
            <a:off x="411480" y="246888"/>
            <a:ext cx="566928" cy="566928"/>
          </a:xfrm>
          <a:prstGeom prst="ellipse">
            <a:avLst/>
          </a:prstGeom>
          <a:solidFill>
            <a:srgbClr val="27AE6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sp>
        <p:nvSpPr>
          <p:cNvPr id="98" name="Google Shape;98;p2"/>
          <p:cNvSpPr txBox="1"/>
          <p:nvPr/>
        </p:nvSpPr>
        <p:spPr>
          <a:xfrm>
            <a:off x="1188720" y="109728"/>
            <a:ext cx="10607040" cy="86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Business goal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1400">
                <a:solidFill>
                  <a:srgbClr val="CFDCEA"/>
                </a:solidFill>
                <a:latin typeface="Calibri"/>
                <a:ea typeface="Calibri"/>
                <a:cs typeface="Calibri"/>
                <a:sym typeface="Calibri"/>
              </a:rPr>
              <a:t>Quel dataset ? Pourquoi est-il utile ?</a:t>
            </a:r>
            <a:endParaRPr/>
          </a:p>
        </p:txBody>
      </p:sp>
      <p:sp>
        <p:nvSpPr>
          <p:cNvPr id="99" name="Google Shape;99;p2"/>
          <p:cNvSpPr txBox="1"/>
          <p:nvPr/>
        </p:nvSpPr>
        <p:spPr>
          <a:xfrm>
            <a:off x="502920" y="1371600"/>
            <a:ext cx="6583680" cy="5120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rgbClr val="1F3A5F"/>
                </a:solidFill>
                <a:latin typeface="Calibri"/>
                <a:ea typeface="Calibri"/>
                <a:cs typeface="Calibri"/>
                <a:sym typeface="Calibri"/>
              </a:rPr>
              <a:t>La question</a:t>
            </a:r>
            <a:endParaRPr/>
          </a:p>
          <a:p>
            <a:pPr indent="0" lvl="1" marL="457200" marR="0" rtl="0" algn="l">
              <a:spcBef>
                <a:spcPts val="900"/>
              </a:spcBef>
              <a:spcAft>
                <a:spcPts val="0"/>
              </a:spcAft>
              <a:buNone/>
            </a:pPr>
            <a:r>
              <a:rPr b="0" i="0" lang="en-US" sz="1700" u="none" cap="none" strike="noStrike">
                <a:solidFill>
                  <a:srgbClr val="222222"/>
                </a:solidFill>
                <a:latin typeface="Calibri"/>
                <a:ea typeface="Calibri"/>
                <a:cs typeface="Calibri"/>
                <a:sym typeface="Calibri"/>
              </a:rPr>
              <a:t>–  Prédire si une expédition atteindra le sommet, avec les seules infos connues AVANT le départ.</a:t>
            </a:r>
            <a:endParaRPr/>
          </a:p>
          <a:p>
            <a:pPr indent="0" lvl="0" marL="0" marR="0" rtl="0" algn="l">
              <a:spcBef>
                <a:spcPts val="90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rgbClr val="1F3A5F"/>
                </a:solidFill>
                <a:latin typeface="Calibri"/>
                <a:ea typeface="Calibri"/>
                <a:cs typeface="Calibri"/>
                <a:sym typeface="Calibri"/>
              </a:rPr>
              <a:t>Pourquoi c'est utile</a:t>
            </a:r>
            <a:endParaRPr/>
          </a:p>
          <a:p>
            <a:pPr indent="0" lvl="1" marL="457200" marR="0" rtl="0" algn="l">
              <a:spcBef>
                <a:spcPts val="900"/>
              </a:spcBef>
              <a:spcAft>
                <a:spcPts val="0"/>
              </a:spcAft>
              <a:buNone/>
            </a:pPr>
            <a:r>
              <a:rPr b="0" i="0" lang="en-US" sz="1700" u="none" cap="none" strike="noStrike">
                <a:solidFill>
                  <a:srgbClr val="222222"/>
                </a:solidFill>
                <a:latin typeface="Calibri"/>
                <a:ea typeface="Calibri"/>
                <a:cs typeface="Calibri"/>
                <a:sym typeface="Calibri"/>
              </a:rPr>
              <a:t>–  Une agence, un assureur ou un chef de cordée peuvent estimer leurs chances quand il est encore temps d'ajuster équipe, matériel et stratégie.</a:t>
            </a:r>
            <a:endParaRPr/>
          </a:p>
          <a:p>
            <a:pPr indent="0" lvl="0" marL="0" marR="0" rtl="0" algn="l">
              <a:spcBef>
                <a:spcPts val="90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rgbClr val="1F3A5F"/>
                </a:solidFill>
                <a:latin typeface="Calibri"/>
                <a:ea typeface="Calibri"/>
                <a:cs typeface="Calibri"/>
                <a:sym typeface="Calibri"/>
              </a:rPr>
              <a:t>Le cadre</a:t>
            </a:r>
            <a:endParaRPr/>
          </a:p>
          <a:p>
            <a:pPr indent="0" lvl="1" marL="457200" marR="0" rtl="0" algn="l">
              <a:spcBef>
                <a:spcPts val="900"/>
              </a:spcBef>
              <a:spcAft>
                <a:spcPts val="0"/>
              </a:spcAft>
              <a:buNone/>
            </a:pPr>
            <a:r>
              <a:rPr b="0" i="0" lang="en-US" sz="1700" u="none" cap="none" strike="noStrike">
                <a:solidFill>
                  <a:srgbClr val="222222"/>
                </a:solidFill>
                <a:latin typeface="Calibri"/>
                <a:ea typeface="Calibri"/>
                <a:cs typeface="Calibri"/>
                <a:sym typeface="Calibri"/>
              </a:rPr>
              <a:t>–  Cible binaire succès / échec  -&gt;  classification  -&gt;  régression logistique.</a:t>
            </a:r>
            <a:endParaRPr/>
          </a:p>
          <a:p>
            <a:pPr indent="0" lvl="0" marL="0" marR="0" rtl="0" algn="l">
              <a:spcBef>
                <a:spcPts val="90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rgbClr val="1F3A5F"/>
                </a:solidFill>
                <a:latin typeface="Calibri"/>
                <a:ea typeface="Calibri"/>
                <a:cs typeface="Calibri"/>
                <a:sym typeface="Calibri"/>
              </a:rPr>
              <a:t>Le jeu de données</a:t>
            </a:r>
            <a:endParaRPr/>
          </a:p>
          <a:p>
            <a:pPr indent="0" lvl="1" marL="457200" marR="0" rtl="0" algn="l">
              <a:spcBef>
                <a:spcPts val="900"/>
              </a:spcBef>
              <a:spcAft>
                <a:spcPts val="0"/>
              </a:spcAft>
              <a:buNone/>
            </a:pPr>
            <a:r>
              <a:rPr b="0" i="0" lang="en-US" sz="1700" u="none" cap="none" strike="noStrike">
                <a:solidFill>
                  <a:srgbClr val="222222"/>
                </a:solidFill>
                <a:latin typeface="Calibri"/>
                <a:ea typeface="Calibri"/>
                <a:cs typeface="Calibri"/>
                <a:sym typeface="Calibri"/>
              </a:rPr>
              <a:t>–  Himalayan Expeditions (Kaggle), issu de la base historique d'E. Hawley : 11 425 expéditions.</a:t>
            </a:r>
            <a:endParaRPr/>
          </a:p>
        </p:txBody>
      </p:sp>
      <p:sp>
        <p:nvSpPr>
          <p:cNvPr id="100" name="Google Shape;100;p2"/>
          <p:cNvSpPr/>
          <p:nvPr/>
        </p:nvSpPr>
        <p:spPr>
          <a:xfrm>
            <a:off x="7406640" y="1554480"/>
            <a:ext cx="4297680" cy="4206240"/>
          </a:xfrm>
          <a:prstGeom prst="roundRect">
            <a:avLst>
              <a:gd fmla="val 16667" name="adj"/>
            </a:avLst>
          </a:prstGeom>
          <a:solidFill>
            <a:srgbClr val="F2F5F8"/>
          </a:solidFill>
          <a:ln cap="flat" cmpd="sng" w="12700">
            <a:solidFill>
              <a:srgbClr val="2E5A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274300" spcFirstLastPara="1" rIns="274300" wrap="square" tIns="2286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6000">
                <a:solidFill>
                  <a:srgbClr val="27AE60"/>
                </a:solidFill>
                <a:latin typeface="Calibri"/>
                <a:ea typeface="Calibri"/>
                <a:cs typeface="Calibri"/>
                <a:sym typeface="Calibri"/>
              </a:rPr>
              <a:t>55 %</a:t>
            </a:r>
            <a:endParaRPr/>
          </a:p>
          <a:p>
            <a:pPr indent="0" lvl="0" marL="0" marR="0" rtl="0" algn="ctr">
              <a:spcBef>
                <a:spcPts val="400"/>
              </a:spcBef>
              <a:spcAft>
                <a:spcPts val="0"/>
              </a:spcAft>
              <a:buNone/>
            </a:pPr>
            <a:r>
              <a:rPr b="0" lang="en-US" sz="1600">
                <a:solidFill>
                  <a:srgbClr val="222222"/>
                </a:solidFill>
                <a:latin typeface="Calibri"/>
                <a:ea typeface="Calibri"/>
                <a:cs typeface="Calibri"/>
                <a:sym typeface="Calibri"/>
              </a:rPr>
              <a:t>de succès, 45 % d'échec</a:t>
            </a:r>
            <a:endParaRPr/>
          </a:p>
          <a:p>
            <a:pPr indent="0" lvl="0" marL="0" marR="0" rtl="0" algn="ctr">
              <a:spcBef>
                <a:spcPts val="1400"/>
              </a:spcBef>
              <a:spcAft>
                <a:spcPts val="0"/>
              </a:spcAft>
              <a:buNone/>
            </a:pPr>
            <a:r>
              <a:rPr b="0" lang="en-US" sz="1400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Cible quasi équilibrée</a:t>
            </a:r>
            <a:endParaRPr/>
          </a:p>
          <a:p>
            <a:pPr indent="0" lvl="0" marL="0" marR="0" rtl="0" algn="ctr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marR="0" rtl="0" algn="ctr">
              <a:spcBef>
                <a:spcPts val="1400"/>
              </a:spcBef>
              <a:spcAft>
                <a:spcPts val="0"/>
              </a:spcAft>
              <a:buNone/>
            </a:pPr>
            <a:r>
              <a:rPr b="0" lang="en-US" sz="1300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Une « baseline » naïve plafonne donc à 55 %.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3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3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3"/>
          <p:cNvSpPr/>
          <p:nvPr/>
        </p:nvSpPr>
        <p:spPr>
          <a:xfrm>
            <a:off x="411480" y="246888"/>
            <a:ext cx="566928" cy="566928"/>
          </a:xfrm>
          <a:prstGeom prst="ellipse">
            <a:avLst/>
          </a:prstGeom>
          <a:solidFill>
            <a:srgbClr val="27AE6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/>
          </a:p>
        </p:txBody>
      </p:sp>
      <p:sp>
        <p:nvSpPr>
          <p:cNvPr id="109" name="Google Shape;109;p3"/>
          <p:cNvSpPr txBox="1"/>
          <p:nvPr/>
        </p:nvSpPr>
        <p:spPr>
          <a:xfrm>
            <a:off x="1188720" y="109728"/>
            <a:ext cx="10607040" cy="86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Data description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1400">
                <a:solidFill>
                  <a:srgbClr val="CFDCEA"/>
                </a:solidFill>
                <a:latin typeface="Calibri"/>
                <a:ea typeface="Calibri"/>
                <a:cs typeface="Calibri"/>
                <a:sym typeface="Calibri"/>
              </a:rPr>
              <a:t>Combien de variables ? Quels types ? Quels pièges ?</a:t>
            </a:r>
            <a:endParaRPr/>
          </a:p>
        </p:txBody>
      </p:sp>
      <p:sp>
        <p:nvSpPr>
          <p:cNvPr id="110" name="Google Shape;110;p3"/>
          <p:cNvSpPr txBox="1"/>
          <p:nvPr/>
        </p:nvSpPr>
        <p:spPr>
          <a:xfrm>
            <a:off x="502920" y="1371600"/>
            <a:ext cx="6309300" cy="3658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900">
                <a:solidFill>
                  <a:srgbClr val="1F3A5F"/>
                </a:solidFill>
                <a:latin typeface="Calibri"/>
                <a:ea typeface="Calibri"/>
                <a:cs typeface="Calibri"/>
                <a:sym typeface="Calibri"/>
              </a:rPr>
              <a:t>Du brut à l’exploitable</a:t>
            </a:r>
            <a:endParaRPr/>
          </a:p>
          <a:p>
            <a:pPr indent="0" lvl="1" marL="457200" marR="0" rtl="0" algn="l">
              <a:spcBef>
                <a:spcPts val="70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222222"/>
                </a:solidFill>
                <a:latin typeface="Calibri"/>
                <a:ea typeface="Calibri"/>
                <a:cs typeface="Calibri"/>
                <a:sym typeface="Calibri"/>
              </a:rPr>
              <a:t>–  65 colonnes brutes  </a:t>
            </a:r>
            <a:r>
              <a:rPr lang="en-US" sz="1600">
                <a:solidFill>
                  <a:srgbClr val="222222"/>
                </a:solidFill>
                <a:latin typeface="Calibri"/>
                <a:ea typeface="Calibri"/>
                <a:cs typeface="Calibri"/>
                <a:sym typeface="Calibri"/>
              </a:rPr>
              <a:t>=</a:t>
            </a:r>
            <a:r>
              <a:rPr b="0" i="0" lang="en-US" sz="1600" u="none" cap="none" strike="noStrike">
                <a:solidFill>
                  <a:srgbClr val="222222"/>
                </a:solidFill>
                <a:latin typeface="Calibri"/>
                <a:ea typeface="Calibri"/>
                <a:cs typeface="Calibri"/>
                <a:sym typeface="Calibri"/>
              </a:rPr>
              <a:t>&gt;  ~20 (sélection Kaggle)  </a:t>
            </a:r>
            <a:r>
              <a:rPr lang="en-US" sz="1600">
                <a:solidFill>
                  <a:srgbClr val="222222"/>
                </a:solidFill>
                <a:latin typeface="Calibri"/>
                <a:ea typeface="Calibri"/>
                <a:cs typeface="Calibri"/>
                <a:sym typeface="Calibri"/>
              </a:rPr>
              <a:t>=&gt;</a:t>
            </a:r>
            <a:r>
              <a:rPr b="0" i="0" lang="en-US" sz="1600" u="none" cap="none" strike="noStrike">
                <a:solidFill>
                  <a:srgbClr val="222222"/>
                </a:solidFill>
                <a:latin typeface="Calibri"/>
                <a:ea typeface="Calibri"/>
                <a:cs typeface="Calibri"/>
                <a:sym typeface="Calibri"/>
              </a:rPr>
              <a:t>  8 prédicteurs retenus + la cible.</a:t>
            </a:r>
            <a:endParaRPr/>
          </a:p>
          <a:p>
            <a:pPr indent="0" lvl="1" marL="457200" marR="0" rtl="0" algn="l">
              <a:spcBef>
                <a:spcPts val="70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222222"/>
                </a:solidFill>
                <a:latin typeface="Calibri"/>
                <a:ea typeface="Calibri"/>
                <a:cs typeface="Calibri"/>
                <a:sym typeface="Calibri"/>
              </a:rPr>
              <a:t>–  Après nettoyage : 11 362 expéditions (–0,6 %).</a:t>
            </a:r>
            <a:endParaRPr/>
          </a:p>
          <a:p>
            <a:pPr indent="0" lvl="0" marL="0" marR="0" rtl="0" algn="l">
              <a:spcBef>
                <a:spcPts val="700"/>
              </a:spcBef>
              <a:spcAft>
                <a:spcPts val="0"/>
              </a:spcAft>
              <a:buNone/>
            </a:pPr>
            <a:r>
              <a:rPr b="1" lang="en-US" sz="1900">
                <a:solidFill>
                  <a:srgbClr val="1F3A5F"/>
                </a:solidFill>
                <a:latin typeface="Calibri"/>
                <a:ea typeface="Calibri"/>
                <a:cs typeface="Calibri"/>
                <a:sym typeface="Calibri"/>
              </a:rPr>
              <a:t>Trois types de variables</a:t>
            </a:r>
            <a:endParaRPr/>
          </a:p>
          <a:p>
            <a:pPr indent="0" lvl="1" marL="457200" marR="0" rtl="0" algn="l">
              <a:spcBef>
                <a:spcPts val="70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222222"/>
                </a:solidFill>
                <a:latin typeface="Calibri"/>
                <a:ea typeface="Calibri"/>
                <a:cs typeface="Calibri"/>
                <a:sym typeface="Calibri"/>
              </a:rPr>
              <a:t>–  Booléens : o2used, comrte (route commerciale).</a:t>
            </a:r>
            <a:endParaRPr/>
          </a:p>
          <a:p>
            <a:pPr indent="0" lvl="1" marL="457200" marR="0" rtl="0" algn="l">
              <a:spcBef>
                <a:spcPts val="70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222222"/>
                </a:solidFill>
                <a:latin typeface="Calibri"/>
                <a:ea typeface="Calibri"/>
                <a:cs typeface="Calibri"/>
                <a:sym typeface="Calibri"/>
              </a:rPr>
              <a:t>–  Numériques : tothired, totmembers, year.</a:t>
            </a:r>
            <a:endParaRPr/>
          </a:p>
          <a:p>
            <a:pPr indent="0" lvl="1" marL="457200" marR="0" rtl="0" algn="l">
              <a:spcBef>
                <a:spcPts val="70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222222"/>
                </a:solidFill>
                <a:latin typeface="Calibri"/>
                <a:ea typeface="Calibri"/>
                <a:cs typeface="Calibri"/>
                <a:sym typeface="Calibri"/>
              </a:rPr>
              <a:t>–  Catégorielles : season, peakid (one-hot, top 8 sommets + Autre).</a:t>
            </a:r>
            <a:endParaRPr/>
          </a:p>
          <a:p>
            <a:pPr indent="0" lvl="0" marL="0" marR="0" rtl="0" algn="l">
              <a:spcBef>
                <a:spcPts val="700"/>
              </a:spcBef>
              <a:spcAft>
                <a:spcPts val="0"/>
              </a:spcAft>
              <a:buNone/>
            </a:pPr>
            <a:r>
              <a:rPr b="1" lang="en-US" sz="1900">
                <a:solidFill>
                  <a:srgbClr val="C0392B"/>
                </a:solidFill>
                <a:latin typeface="Calibri"/>
                <a:ea typeface="Calibri"/>
                <a:cs typeface="Calibri"/>
                <a:sym typeface="Calibri"/>
              </a:rPr>
              <a:t>Le piège : data leakage</a:t>
            </a:r>
            <a:endParaRPr/>
          </a:p>
          <a:p>
            <a:pPr indent="0" lvl="1" marL="457200" marR="0" rtl="0" algn="l">
              <a:spcBef>
                <a:spcPts val="70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222222"/>
                </a:solidFill>
                <a:latin typeface="Calibri"/>
                <a:ea typeface="Calibri"/>
                <a:cs typeface="Calibri"/>
                <a:sym typeface="Calibri"/>
              </a:rPr>
              <a:t>–  On exclut tout ce qui décrit l'APRÈS (décès, dates de sommet, durée) : prédire avec le résultat n'a pas de sens.</a:t>
            </a:r>
            <a:endParaRPr/>
          </a:p>
        </p:txBody>
      </p:sp>
      <p:pic>
        <p:nvPicPr>
          <p:cNvPr descr="04_correlations.png" id="111" name="Google Shape;111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903720" y="1449977"/>
            <a:ext cx="4937760" cy="4232365"/>
          </a:xfrm>
          <a:prstGeom prst="rect">
            <a:avLst/>
          </a:prstGeom>
          <a:noFill/>
          <a:ln>
            <a:noFill/>
          </a:ln>
        </p:spPr>
      </p:pic>
      <p:sp>
        <p:nvSpPr>
          <p:cNvPr id="112" name="Google Shape;112;p3"/>
          <p:cNvSpPr txBox="1"/>
          <p:nvPr/>
        </p:nvSpPr>
        <p:spPr>
          <a:xfrm>
            <a:off x="6903720" y="5806440"/>
            <a:ext cx="49377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1100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Corrélations : o2used (0,32) et comrte ressortent ; tothired/totmembers redondants (0,58).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4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4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4"/>
          <p:cNvSpPr/>
          <p:nvPr/>
        </p:nvSpPr>
        <p:spPr>
          <a:xfrm>
            <a:off x="411480" y="246888"/>
            <a:ext cx="566928" cy="566928"/>
          </a:xfrm>
          <a:prstGeom prst="ellipse">
            <a:avLst/>
          </a:prstGeom>
          <a:solidFill>
            <a:srgbClr val="27AE6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/>
          </a:p>
        </p:txBody>
      </p:sp>
      <p:sp>
        <p:nvSpPr>
          <p:cNvPr id="121" name="Google Shape;121;p4"/>
          <p:cNvSpPr txBox="1"/>
          <p:nvPr/>
        </p:nvSpPr>
        <p:spPr>
          <a:xfrm>
            <a:off x="1188720" y="109728"/>
            <a:ext cx="10607040" cy="86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Handcrafted features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1400">
                <a:solidFill>
                  <a:srgbClr val="CFDCEA"/>
                </a:solidFill>
                <a:latin typeface="Calibri"/>
                <a:ea typeface="Calibri"/>
                <a:cs typeface="Calibri"/>
                <a:sym typeface="Calibri"/>
              </a:rPr>
              <a:t>Trois hypothèses testées, une seule survit</a:t>
            </a:r>
            <a:endParaRPr/>
          </a:p>
        </p:txBody>
      </p:sp>
      <p:sp>
        <p:nvSpPr>
          <p:cNvPr id="122" name="Google Shape;122;p4"/>
          <p:cNvSpPr txBox="1"/>
          <p:nvPr/>
        </p:nvSpPr>
        <p:spPr>
          <a:xfrm>
            <a:off x="457200" y="1207008"/>
            <a:ext cx="54864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900">
                <a:solidFill>
                  <a:srgbClr val="27AE60"/>
                </a:solidFill>
                <a:latin typeface="Calibri"/>
                <a:ea typeface="Calibri"/>
                <a:cs typeface="Calibri"/>
                <a:sym typeface="Calibri"/>
              </a:rPr>
              <a:t>ratio_hired = Sherpas / membres</a:t>
            </a:r>
            <a:endParaRPr/>
          </a:p>
          <a:p>
            <a:pPr indent="0" lvl="1" marL="45720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222222"/>
                </a:solidFill>
                <a:latin typeface="Calibri"/>
                <a:ea typeface="Calibri"/>
                <a:cs typeface="Calibri"/>
                <a:sym typeface="Calibri"/>
              </a:rPr>
              <a:t>–  GARDÉE. À équipe égale, le succès monte avec la proportion de Sherpas : 49 % (ratio &lt; 0,5)  </a:t>
            </a:r>
            <a:r>
              <a:rPr lang="en-US" sz="1500">
                <a:solidFill>
                  <a:srgbClr val="222222"/>
                </a:solidFill>
                <a:latin typeface="Calibri"/>
                <a:ea typeface="Calibri"/>
                <a:cs typeface="Calibri"/>
                <a:sym typeface="Calibri"/>
              </a:rPr>
              <a:t>=</a:t>
            </a:r>
            <a:r>
              <a:rPr b="0" i="0" lang="en-US" sz="1500" u="none" cap="none" strike="noStrike">
                <a:solidFill>
                  <a:srgbClr val="222222"/>
                </a:solidFill>
                <a:latin typeface="Calibri"/>
                <a:ea typeface="Calibri"/>
                <a:cs typeface="Calibri"/>
                <a:sym typeface="Calibri"/>
              </a:rPr>
              <a:t>&gt;  64 % (0,5–1).</a:t>
            </a:r>
            <a:endParaRPr/>
          </a:p>
        </p:txBody>
      </p:sp>
      <p:pic>
        <p:nvPicPr>
          <p:cNvPr descr="03_sherpas_vs_membres.png" id="123" name="Google Shape;123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60704" y="2651760"/>
            <a:ext cx="4279392" cy="3291840"/>
          </a:xfrm>
          <a:prstGeom prst="rect">
            <a:avLst/>
          </a:prstGeom>
          <a:noFill/>
          <a:ln>
            <a:noFill/>
          </a:ln>
        </p:spPr>
      </p:pic>
      <p:sp>
        <p:nvSpPr>
          <p:cNvPr id="124" name="Google Shape;124;p4"/>
          <p:cNvSpPr txBox="1"/>
          <p:nvPr/>
        </p:nvSpPr>
        <p:spPr>
          <a:xfrm>
            <a:off x="502920" y="5989320"/>
            <a:ext cx="53949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1100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GARDÉE : à équipe égale, le ratio de Sherpas fait la différence.</a:t>
            </a:r>
            <a:endParaRPr/>
          </a:p>
        </p:txBody>
      </p:sp>
      <p:sp>
        <p:nvSpPr>
          <p:cNvPr id="125" name="Google Shape;125;p4"/>
          <p:cNvSpPr txBox="1"/>
          <p:nvPr/>
        </p:nvSpPr>
        <p:spPr>
          <a:xfrm>
            <a:off x="6263640" y="1207008"/>
            <a:ext cx="5486400" cy="1417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900">
                <a:solidFill>
                  <a:srgbClr val="C0392B"/>
                </a:solidFill>
                <a:latin typeface="Calibri"/>
                <a:ea typeface="Calibri"/>
                <a:cs typeface="Calibri"/>
                <a:sym typeface="Calibri"/>
              </a:rPr>
              <a:t>Deux hypothèses rejetées</a:t>
            </a:r>
            <a:endParaRPr/>
          </a:p>
          <a:p>
            <a:pPr indent="0" lvl="1" marL="45720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222222"/>
                </a:solidFill>
                <a:latin typeface="Calibri"/>
                <a:ea typeface="Calibri"/>
                <a:cs typeface="Calibri"/>
                <a:sym typeface="Calibri"/>
              </a:rPr>
              <a:t>–  o2used × season : fausse interaction. La vraie cause est le sommet tenté (Everest au printemps), pas la saison.</a:t>
            </a:r>
            <a:endParaRPr/>
          </a:p>
          <a:p>
            <a:pPr indent="0" lvl="1" marL="45720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222222"/>
                </a:solidFill>
                <a:latin typeface="Calibri"/>
                <a:ea typeface="Calibri"/>
                <a:cs typeface="Calibri"/>
                <a:sym typeface="Calibri"/>
              </a:rPr>
              <a:t>–  rope_bool : aucun signal (55 % vs 54 %), et corde posée pendant l'ascension (leakage).</a:t>
            </a:r>
            <a:endParaRPr/>
          </a:p>
        </p:txBody>
      </p:sp>
      <p:pic>
        <p:nvPicPr>
          <p:cNvPr descr="02_interaction_o2_saison.png" id="126" name="Google Shape;126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446520" y="2651760"/>
            <a:ext cx="5120640" cy="3291840"/>
          </a:xfrm>
          <a:prstGeom prst="rect">
            <a:avLst/>
          </a:prstGeom>
          <a:noFill/>
          <a:ln>
            <a:noFill/>
          </a:ln>
        </p:spPr>
      </p:pic>
      <p:sp>
        <p:nvSpPr>
          <p:cNvPr id="127" name="Google Shape;127;p4"/>
          <p:cNvSpPr txBox="1"/>
          <p:nvPr/>
        </p:nvSpPr>
        <p:spPr>
          <a:xfrm>
            <a:off x="6309360" y="5989320"/>
            <a:ext cx="53949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1100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REJETÉE : l'« interaction » O2 × saison n'est qu'un artefact.</a:t>
            </a:r>
            <a:endParaRPr/>
          </a:p>
        </p:txBody>
      </p:sp>
      <p:sp>
        <p:nvSpPr>
          <p:cNvPr id="128" name="Google Shape;128;p4"/>
          <p:cNvSpPr txBox="1"/>
          <p:nvPr/>
        </p:nvSpPr>
        <p:spPr>
          <a:xfrm>
            <a:off x="457200" y="6446520"/>
            <a:ext cx="8778240" cy="31089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1200">
                <a:solidFill>
                  <a:srgbClr val="1F3A5F"/>
                </a:solidFill>
                <a:latin typeface="Calibri"/>
                <a:ea typeface="Calibri"/>
                <a:cs typeface="Calibri"/>
                <a:sym typeface="Calibri"/>
              </a:rPr>
              <a:t>Rejeter ses propres hypothèses quand les données les contredisent = cœur de la démarche scientifique.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5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5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5"/>
          <p:cNvSpPr/>
          <p:nvPr/>
        </p:nvSpPr>
        <p:spPr>
          <a:xfrm>
            <a:off x="411480" y="246888"/>
            <a:ext cx="566928" cy="566928"/>
          </a:xfrm>
          <a:prstGeom prst="ellipse">
            <a:avLst/>
          </a:prstGeom>
          <a:solidFill>
            <a:srgbClr val="27AE6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/>
          </a:p>
        </p:txBody>
      </p:sp>
      <p:sp>
        <p:nvSpPr>
          <p:cNvPr id="137" name="Google Shape;137;p5"/>
          <p:cNvSpPr txBox="1"/>
          <p:nvPr/>
        </p:nvSpPr>
        <p:spPr>
          <a:xfrm>
            <a:off x="1188720" y="109728"/>
            <a:ext cx="10607040" cy="86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Régression logistique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1400">
                <a:solidFill>
                  <a:srgbClr val="CFDCEA"/>
                </a:solidFill>
                <a:latin typeface="Calibri"/>
                <a:ea typeface="Calibri"/>
                <a:cs typeface="Calibri"/>
                <a:sym typeface="Calibri"/>
              </a:rPr>
              <a:t>Cible binaire -&gt; probabilité, et coefficients interprétables</a:t>
            </a:r>
            <a:endParaRPr/>
          </a:p>
        </p:txBody>
      </p:sp>
      <p:sp>
        <p:nvSpPr>
          <p:cNvPr id="138" name="Google Shape;138;p5"/>
          <p:cNvSpPr txBox="1"/>
          <p:nvPr/>
        </p:nvSpPr>
        <p:spPr>
          <a:xfrm>
            <a:off x="502920" y="1280160"/>
            <a:ext cx="5486400" cy="252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500">
                <a:solidFill>
                  <a:srgbClr val="222222"/>
                </a:solidFill>
                <a:latin typeface="Calibri"/>
                <a:ea typeface="Calibri"/>
                <a:cs typeface="Calibri"/>
                <a:sym typeface="Calibri"/>
              </a:rPr>
              <a:t>•  Pourquoi la logistique : cible binaire (pas linéaire, pas softmax) + coefficients lisibles.</a:t>
            </a:r>
            <a:endParaRPr/>
          </a:p>
          <a:p>
            <a:pPr indent="0" lvl="0" marL="0" marR="0" rtl="0" algn="l">
              <a:spcBef>
                <a:spcPts val="700"/>
              </a:spcBef>
              <a:spcAft>
                <a:spcPts val="0"/>
              </a:spcAft>
              <a:buNone/>
            </a:pPr>
            <a:r>
              <a:rPr b="0" lang="en-US" sz="1500">
                <a:solidFill>
                  <a:srgbClr val="222222"/>
                </a:solidFill>
                <a:latin typeface="Calibri"/>
                <a:ea typeface="Calibri"/>
                <a:cs typeface="Calibri"/>
                <a:sym typeface="Calibri"/>
              </a:rPr>
              <a:t>•  Pipeline anti-leakage : standardisation recalculée sur le train à chaque pli.</a:t>
            </a:r>
            <a:endParaRPr/>
          </a:p>
          <a:p>
            <a:pPr indent="0" lvl="0" marL="0" marR="0" rtl="0" algn="l">
              <a:spcBef>
                <a:spcPts val="700"/>
              </a:spcBef>
              <a:spcAft>
                <a:spcPts val="0"/>
              </a:spcAft>
              <a:buNone/>
            </a:pPr>
            <a:r>
              <a:rPr b="0" lang="en-US" sz="1500">
                <a:solidFill>
                  <a:srgbClr val="222222"/>
                </a:solidFill>
                <a:latin typeface="Calibri"/>
                <a:ea typeface="Calibri"/>
                <a:cs typeface="Calibri"/>
                <a:sym typeface="Calibri"/>
              </a:rPr>
              <a:t>•  Validé en croisée (5 </a:t>
            </a:r>
            <a:r>
              <a:rPr lang="en-US" sz="1500">
                <a:solidFill>
                  <a:srgbClr val="222222"/>
                </a:solidFill>
                <a:latin typeface="Calibri"/>
                <a:ea typeface="Calibri"/>
                <a:cs typeface="Calibri"/>
                <a:sym typeface="Calibri"/>
              </a:rPr>
              <a:t>fold</a:t>
            </a:r>
            <a:r>
              <a:rPr b="0" lang="en-US" sz="1500">
                <a:solidFill>
                  <a:srgbClr val="222222"/>
                </a:solidFill>
                <a:latin typeface="Calibri"/>
                <a:ea typeface="Calibri"/>
                <a:cs typeface="Calibri"/>
                <a:sym typeface="Calibri"/>
              </a:rPr>
              <a:t>) et Holdout : résultats concordants.</a:t>
            </a:r>
            <a:endParaRPr/>
          </a:p>
          <a:p>
            <a:pPr indent="0" lvl="0" marL="0" marR="0" rtl="0" algn="l">
              <a:spcBef>
                <a:spcPts val="700"/>
              </a:spcBef>
              <a:spcAft>
                <a:spcPts val="0"/>
              </a:spcAft>
              <a:buNone/>
            </a:pPr>
            <a:r>
              <a:rPr b="0" lang="en-US" sz="1500">
                <a:solidFill>
                  <a:srgbClr val="C0392B"/>
                </a:solidFill>
                <a:latin typeface="Calibri"/>
                <a:ea typeface="Calibri"/>
                <a:cs typeface="Calibri"/>
                <a:sym typeface="Calibri"/>
              </a:rPr>
              <a:t>•  camps EXCLU (leakage) : Everest 22 % (2 camps) -&gt; 71 % (3 camps).</a:t>
            </a:r>
            <a:endParaRPr/>
          </a:p>
          <a:p>
            <a:pPr indent="0" lvl="0" marL="0" marR="0" rtl="0" algn="l">
              <a:spcBef>
                <a:spcPts val="700"/>
              </a:spcBef>
              <a:spcAft>
                <a:spcPts val="0"/>
              </a:spcAft>
              <a:buNone/>
            </a:pPr>
            <a:r>
              <a:rPr b="0" lang="en-US" sz="1500">
                <a:solidFill>
                  <a:srgbClr val="222222"/>
                </a:solidFill>
                <a:latin typeface="Calibri"/>
                <a:ea typeface="Calibri"/>
                <a:cs typeface="Calibri"/>
                <a:sym typeface="Calibri"/>
              </a:rPr>
              <a:t>•  Optimisation (GridSearch sur C) : gain nul, défauts déjà quasi optimaux.</a:t>
            </a:r>
            <a:endParaRPr/>
          </a:p>
        </p:txBody>
      </p:sp>
      <p:sp>
        <p:nvSpPr>
          <p:cNvPr id="139" name="Google Shape;139;p5"/>
          <p:cNvSpPr/>
          <p:nvPr/>
        </p:nvSpPr>
        <p:spPr>
          <a:xfrm>
            <a:off x="502920" y="4572000"/>
            <a:ext cx="5486400" cy="1828800"/>
          </a:xfrm>
          <a:prstGeom prst="roundRect">
            <a:avLst>
              <a:gd fmla="val 16667" name="adj"/>
            </a:avLst>
          </a:prstGeom>
          <a:solidFill>
            <a:srgbClr val="F2F5F8"/>
          </a:solidFill>
          <a:ln cap="flat" cmpd="sng" w="12700">
            <a:solidFill>
              <a:srgbClr val="2E5A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228600" spcFirstLastPara="1" rIns="91425" wrap="square" tIns="1371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rgbClr val="1F3A5F"/>
                </a:solidFill>
                <a:latin typeface="Calibri"/>
                <a:ea typeface="Calibri"/>
                <a:cs typeface="Calibri"/>
                <a:sym typeface="Calibri"/>
              </a:rPr>
              <a:t>Accuracy (validation)</a:t>
            </a:r>
            <a:endParaRPr/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1" lang="en-US" sz="1400">
                <a:solidFill>
                  <a:srgbClr val="222222"/>
                </a:solidFill>
                <a:latin typeface="Calibri"/>
                <a:ea typeface="Calibri"/>
                <a:cs typeface="Calibri"/>
                <a:sym typeface="Calibri"/>
              </a:rPr>
              <a:t>Baseline (classe majoritaire)</a:t>
            </a:r>
            <a:r>
              <a:rPr b="1" lang="en-US" sz="1500">
                <a:solidFill>
                  <a:srgbClr val="222222"/>
                </a:solidFill>
                <a:latin typeface="Calibri"/>
                <a:ea typeface="Calibri"/>
                <a:cs typeface="Calibri"/>
                <a:sym typeface="Calibri"/>
              </a:rPr>
              <a:t>   55,0 %</a:t>
            </a:r>
            <a:endParaRPr/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1" lang="en-US" sz="1400">
                <a:solidFill>
                  <a:srgbClr val="222222"/>
                </a:solidFill>
                <a:latin typeface="Calibri"/>
                <a:ea typeface="Calibri"/>
                <a:cs typeface="Calibri"/>
                <a:sym typeface="Calibri"/>
              </a:rPr>
              <a:t>Holdout 80/20</a:t>
            </a:r>
            <a:r>
              <a:rPr b="1" lang="en-US" sz="1500">
                <a:solidFill>
                  <a:srgbClr val="222222"/>
                </a:solidFill>
                <a:latin typeface="Calibri"/>
                <a:ea typeface="Calibri"/>
                <a:cs typeface="Calibri"/>
                <a:sym typeface="Calibri"/>
              </a:rPr>
              <a:t>   69,7 %</a:t>
            </a:r>
            <a:endParaRPr/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1" lang="en-US" sz="1400">
                <a:solidFill>
                  <a:srgbClr val="222222"/>
                </a:solidFill>
                <a:latin typeface="Calibri"/>
                <a:ea typeface="Calibri"/>
                <a:cs typeface="Calibri"/>
                <a:sym typeface="Calibri"/>
              </a:rPr>
              <a:t>Validation croisée (5 </a:t>
            </a:r>
            <a:r>
              <a:rPr b="1" lang="en-US">
                <a:solidFill>
                  <a:srgbClr val="222222"/>
                </a:solidFill>
                <a:latin typeface="Calibri"/>
                <a:ea typeface="Calibri"/>
                <a:cs typeface="Calibri"/>
                <a:sym typeface="Calibri"/>
              </a:rPr>
              <a:t>fold</a:t>
            </a:r>
            <a:r>
              <a:rPr b="1" lang="en-US" sz="1400">
                <a:solidFill>
                  <a:srgbClr val="222222"/>
                </a:solidFill>
                <a:latin typeface="Calibri"/>
                <a:ea typeface="Calibri"/>
                <a:cs typeface="Calibri"/>
                <a:sym typeface="Calibri"/>
              </a:rPr>
              <a:t>)</a:t>
            </a:r>
            <a:r>
              <a:rPr b="1" lang="en-US" sz="1500">
                <a:solidFill>
                  <a:srgbClr val="27AE60"/>
                </a:solidFill>
                <a:latin typeface="Calibri"/>
                <a:ea typeface="Calibri"/>
                <a:cs typeface="Calibri"/>
                <a:sym typeface="Calibri"/>
              </a:rPr>
              <a:t>   69,3 % ± 1,1 %</a:t>
            </a:r>
            <a:endParaRPr/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0" lang="en-US" sz="1400">
                <a:solidFill>
                  <a:srgbClr val="222222"/>
                </a:solidFill>
                <a:latin typeface="Calibri"/>
                <a:ea typeface="Calibri"/>
                <a:cs typeface="Calibri"/>
                <a:sym typeface="Calibri"/>
              </a:rPr>
              <a:t>Précision 75 %  ·  Rappel 66 %  ·  ROC-AUC 0,75</a:t>
            </a:r>
            <a:endParaRPr/>
          </a:p>
        </p:txBody>
      </p:sp>
      <p:pic>
        <p:nvPicPr>
          <p:cNvPr descr="09_coefficients.png" id="140" name="Google Shape;140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72200" y="1254034"/>
            <a:ext cx="5715000" cy="4898571"/>
          </a:xfrm>
          <a:prstGeom prst="rect">
            <a:avLst/>
          </a:prstGeom>
          <a:noFill/>
          <a:ln>
            <a:noFill/>
          </a:ln>
        </p:spPr>
      </p:pic>
      <p:sp>
        <p:nvSpPr>
          <p:cNvPr id="141" name="Google Shape;141;p5"/>
          <p:cNvSpPr txBox="1"/>
          <p:nvPr/>
        </p:nvSpPr>
        <p:spPr>
          <a:xfrm>
            <a:off x="6172200" y="6172200"/>
            <a:ext cx="57150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1100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Oxygène (+2,03) et route commerciale (+1,39) écrasent tout ; ratio_hired s'effondre (+0,02).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6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6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6"/>
          <p:cNvSpPr/>
          <p:nvPr/>
        </p:nvSpPr>
        <p:spPr>
          <a:xfrm>
            <a:off x="411480" y="246888"/>
            <a:ext cx="566928" cy="566928"/>
          </a:xfrm>
          <a:prstGeom prst="ellipse">
            <a:avLst/>
          </a:prstGeom>
          <a:solidFill>
            <a:srgbClr val="27AE6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/>
          </a:p>
        </p:txBody>
      </p:sp>
      <p:sp>
        <p:nvSpPr>
          <p:cNvPr id="150" name="Google Shape;150;p6"/>
          <p:cNvSpPr txBox="1"/>
          <p:nvPr/>
        </p:nvSpPr>
        <p:spPr>
          <a:xfrm>
            <a:off x="1188720" y="109728"/>
            <a:ext cx="10607040" cy="86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Conclusion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1400">
                <a:solidFill>
                  <a:srgbClr val="CFDCEA"/>
                </a:solidFill>
                <a:latin typeface="Calibri"/>
                <a:ea typeface="Calibri"/>
                <a:cs typeface="Calibri"/>
                <a:sym typeface="Calibri"/>
              </a:rPr>
              <a:t>Bénéfices, limites et pistes d'amélioration</a:t>
            </a:r>
            <a:endParaRPr/>
          </a:p>
        </p:txBody>
      </p:sp>
      <p:sp>
        <p:nvSpPr>
          <p:cNvPr id="151" name="Google Shape;151;p6"/>
          <p:cNvSpPr txBox="1"/>
          <p:nvPr/>
        </p:nvSpPr>
        <p:spPr>
          <a:xfrm>
            <a:off x="502920" y="1371600"/>
            <a:ext cx="6400800" cy="5120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900">
                <a:solidFill>
                  <a:srgbClr val="1F3A5F"/>
                </a:solidFill>
                <a:latin typeface="Calibri"/>
                <a:ea typeface="Calibri"/>
                <a:cs typeface="Calibri"/>
                <a:sym typeface="Calibri"/>
              </a:rPr>
              <a:t>Une hiérarchie claire des facteurs de succès</a:t>
            </a:r>
            <a:endParaRPr/>
          </a:p>
          <a:p>
            <a:pPr indent="0" lvl="1" marL="45720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222222"/>
                </a:solidFill>
                <a:latin typeface="Calibri"/>
                <a:ea typeface="Calibri"/>
                <a:cs typeface="Calibri"/>
                <a:sym typeface="Calibri"/>
              </a:rPr>
              <a:t>–  1. Oxygène   2. Route commerciale (encadrement)   3. Difficulté du sommet.</a:t>
            </a:r>
            <a:endParaRPr/>
          </a:p>
          <a:p>
            <a:pPr indent="0" lvl="1" marL="45720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222222"/>
                </a:solidFill>
                <a:latin typeface="Calibri"/>
                <a:ea typeface="Calibri"/>
                <a:cs typeface="Calibri"/>
                <a:sym typeface="Calibri"/>
              </a:rPr>
              <a:t>–  69,3 % d'accuracy, loin devant la baseline de 55 %, et cohérent avec le bon sens alpin.</a:t>
            </a:r>
            <a:endParaRPr/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1" lang="en-US" sz="1900">
                <a:solidFill>
                  <a:srgbClr val="1F3A5F"/>
                </a:solidFill>
                <a:latin typeface="Calibri"/>
                <a:ea typeface="Calibri"/>
                <a:cs typeface="Calibri"/>
                <a:sym typeface="Calibri"/>
              </a:rPr>
              <a:t>Deux pièges identifiés et évités</a:t>
            </a:r>
            <a:endParaRPr/>
          </a:p>
          <a:p>
            <a:pPr indent="0" lvl="1" marL="45720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C0392B"/>
                </a:solidFill>
                <a:latin typeface="Calibri"/>
                <a:ea typeface="Calibri"/>
                <a:cs typeface="Calibri"/>
                <a:sym typeface="Calibri"/>
              </a:rPr>
              <a:t>–  Data leakage (camps) : une variable séduisante contenait le résultat.</a:t>
            </a:r>
            <a:endParaRPr/>
          </a:p>
          <a:p>
            <a:pPr indent="0" lvl="1" marL="45720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C0392B"/>
                </a:solidFill>
                <a:latin typeface="Calibri"/>
                <a:ea typeface="Calibri"/>
                <a:cs typeface="Calibri"/>
                <a:sym typeface="Calibri"/>
              </a:rPr>
              <a:t>–  Corrélation ≠ causalité : la fausse interaction O2 × saison.</a:t>
            </a:r>
            <a:endParaRPr/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1" lang="en-US" sz="1900">
                <a:solidFill>
                  <a:srgbClr val="1F3A5F"/>
                </a:solidFill>
                <a:latin typeface="Calibri"/>
                <a:ea typeface="Calibri"/>
                <a:cs typeface="Calibri"/>
                <a:sym typeface="Calibri"/>
              </a:rPr>
              <a:t>Peut-on faire mieux ?</a:t>
            </a:r>
            <a:endParaRPr/>
          </a:p>
          <a:p>
            <a:pPr indent="0" lvl="1" marL="45720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222222"/>
                </a:solidFill>
                <a:latin typeface="Calibri"/>
                <a:ea typeface="Calibri"/>
                <a:cs typeface="Calibri"/>
                <a:sym typeface="Calibri"/>
              </a:rPr>
              <a:t>–  Ajouter l'altitude du sommet (continue) plutôt que peakid en one-hot.</a:t>
            </a:r>
            <a:endParaRPr/>
          </a:p>
          <a:p>
            <a:pPr indent="0" lvl="1" marL="45720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222222"/>
                </a:solidFill>
                <a:latin typeface="Calibri"/>
                <a:ea typeface="Calibri"/>
                <a:cs typeface="Calibri"/>
                <a:sym typeface="Calibri"/>
              </a:rPr>
              <a:t>–  Tester un modèle non linéaire pour des interactions plus fines, en restant vigilant sur le leakage.</a:t>
            </a:r>
            <a:endParaRPr/>
          </a:p>
        </p:txBody>
      </p:sp>
      <p:pic>
        <p:nvPicPr>
          <p:cNvPr descr="01_effet_oxygene.png" id="152" name="Google Shape;152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086600" y="2057400"/>
            <a:ext cx="4663440" cy="3108960"/>
          </a:xfrm>
          <a:prstGeom prst="rect">
            <a:avLst/>
          </a:prstGeom>
          <a:noFill/>
          <a:ln>
            <a:noFill/>
          </a:ln>
        </p:spPr>
      </p:pic>
      <p:sp>
        <p:nvSpPr>
          <p:cNvPr id="153" name="Google Shape;153;p6"/>
          <p:cNvSpPr txBox="1"/>
          <p:nvPr/>
        </p:nvSpPr>
        <p:spPr>
          <a:xfrm>
            <a:off x="7086600" y="5669280"/>
            <a:ext cx="46634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1100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Le message à retenir : l'oxygène fait basculer le succès de 45 % à 80 %.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2013-01-27T09:14:16Z</dcterms:created>
</cp:coreProperties>
</file>